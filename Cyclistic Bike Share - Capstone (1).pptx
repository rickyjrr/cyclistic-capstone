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Newsreader"/>
      <p:regular r:id="rId21"/>
      <p:bold r:id="rId22"/>
      <p:italic r:id="rId23"/>
      <p:boldItalic r:id="rId24"/>
    </p:embeddedFont>
    <p:embeddedFont>
      <p:font typeface="DM Sans Light"/>
      <p:regular r:id="rId25"/>
      <p:bold r:id="rId26"/>
      <p:italic r:id="rId27"/>
      <p:boldItalic r:id="rId28"/>
    </p:embeddedFont>
    <p:embeddedFont>
      <p:font typeface="DM Sans SemiBold"/>
      <p:regular r:id="rId29"/>
      <p:bold r:id="rId30"/>
      <p:italic r:id="rId31"/>
      <p:boldItalic r:id="rId32"/>
    </p:embeddedFont>
    <p:embeddedFont>
      <p:font typeface="DM Sans"/>
      <p:regular r:id="rId33"/>
      <p:bold r:id="rId34"/>
      <p:italic r:id="rId35"/>
      <p:boldItalic r:id="rId36"/>
    </p:embeddedFont>
    <p:embeddedFont>
      <p:font typeface="Newsreader SemiBold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ewsreader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DMSansSemiBold-italic.fntdata"/><Relationship Id="rId30" Type="http://schemas.openxmlformats.org/officeDocument/2006/relationships/font" Target="fonts/DMSansSemiBold-bold.fntdata"/><Relationship Id="rId33" Type="http://schemas.openxmlformats.org/officeDocument/2006/relationships/font" Target="fonts/DMSans-regular.fntdata"/><Relationship Id="rId32" Type="http://schemas.openxmlformats.org/officeDocument/2006/relationships/font" Target="fonts/DMSansSemiBold-boldItalic.fntdata"/><Relationship Id="rId35" Type="http://schemas.openxmlformats.org/officeDocument/2006/relationships/font" Target="fonts/DMSans-italic.fntdata"/><Relationship Id="rId34" Type="http://schemas.openxmlformats.org/officeDocument/2006/relationships/font" Target="fonts/DMSans-bold.fntdata"/><Relationship Id="rId37" Type="http://schemas.openxmlformats.org/officeDocument/2006/relationships/font" Target="fonts/NewsreaderSemiBold-regular.fntdata"/><Relationship Id="rId36" Type="http://schemas.openxmlformats.org/officeDocument/2006/relationships/font" Target="fonts/DMSans-boldItalic.fntdata"/><Relationship Id="rId39" Type="http://schemas.openxmlformats.org/officeDocument/2006/relationships/font" Target="fonts/NewsreaderSemiBold-italic.fntdata"/><Relationship Id="rId38" Type="http://schemas.openxmlformats.org/officeDocument/2006/relationships/font" Target="fonts/NewsreaderSemiBold-bold.fntdata"/><Relationship Id="rId20" Type="http://schemas.openxmlformats.org/officeDocument/2006/relationships/slide" Target="slides/slide15.xml"/><Relationship Id="rId22" Type="http://schemas.openxmlformats.org/officeDocument/2006/relationships/font" Target="fonts/Newsreader-bold.fntdata"/><Relationship Id="rId21" Type="http://schemas.openxmlformats.org/officeDocument/2006/relationships/font" Target="fonts/Newsreader-regular.fntdata"/><Relationship Id="rId24" Type="http://schemas.openxmlformats.org/officeDocument/2006/relationships/font" Target="fonts/Newsreader-boldItalic.fntdata"/><Relationship Id="rId23" Type="http://schemas.openxmlformats.org/officeDocument/2006/relationships/font" Target="fonts/Newsreader-italic.fntdata"/><Relationship Id="rId26" Type="http://schemas.openxmlformats.org/officeDocument/2006/relationships/font" Target="fonts/DMSansLight-bold.fntdata"/><Relationship Id="rId25" Type="http://schemas.openxmlformats.org/officeDocument/2006/relationships/font" Target="fonts/DMSansLight-regular.fntdata"/><Relationship Id="rId28" Type="http://schemas.openxmlformats.org/officeDocument/2006/relationships/font" Target="fonts/DMSansLight-boldItalic.fntdata"/><Relationship Id="rId27" Type="http://schemas.openxmlformats.org/officeDocument/2006/relationships/font" Target="fonts/DMSansLight-italic.fntdata"/><Relationship Id="rId29" Type="http://schemas.openxmlformats.org/officeDocument/2006/relationships/font" Target="fonts/DMSansSemiBol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f017f7b25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f017f7b2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f017f7b259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f017f7b259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f017f7b259_0_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f017f7b259_0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f017f7b259_0_5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f017f7b259_0_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f017f7b259_0_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f017f7b259_0_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f017f7b259_0_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f017f7b259_0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"This suggests casual riders are using Cyclistic differently — likely for leisure or one-off trips — while members show tighter, more consistent durations, consistent with routine commuting. That distinction is useful for marketing: messaging that emphasizes convenience and cost savings for </a:t>
            </a:r>
            <a:r>
              <a:rPr i="1" lang="en">
                <a:solidFill>
                  <a:schemeClr val="dk1"/>
                </a:solidFill>
              </a:rPr>
              <a:t>frequent, predictable</a:t>
            </a:r>
            <a:r>
              <a:rPr lang="en">
                <a:solidFill>
                  <a:schemeClr val="dk1"/>
                </a:solidFill>
              </a:rPr>
              <a:t> trips could be the hook that converts casual riders into members." 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f017f7b259_0_6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f017f7b259_0_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r>
              <a:rPr lang="en"/>
              <a:t>uggesting that marketing should highlight electric bike availability as a member perk, not just a casual draw, would be great since it's already the preferred bike type for both audiences.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f017f7b259_0_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f017f7b259_0_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Stations like Lakefront Trail &amp; Bryn Mawr Rd (directly on the lake trail), Sheridan Rd &amp; Noyes (Sheridan Road runs directly along the lake) , Chicago Ave &amp; Sheridan(also runs along the lake), Sheffield Ave &amp; Addison ( near Wrigley Field, a few blocks from the lake), </a:t>
            </a:r>
            <a:r>
              <a:rPr lang="en">
                <a:solidFill>
                  <a:schemeClr val="dk1"/>
                </a:solidFill>
              </a:rPr>
              <a:t>Sheffield Ave &amp; Fullerton (near Lincoln Park)</a:t>
            </a:r>
            <a:r>
              <a:rPr lang="en">
                <a:solidFill>
                  <a:schemeClr val="dk1"/>
                </a:solidFill>
              </a:rPr>
              <a:t>, and Wilton ave &amp; Belmont (near Lincoln Park/few blocks away from the lakefront path). What do they have in common — they sit along </a:t>
            </a:r>
            <a:r>
              <a:rPr b="1" lang="en">
                <a:solidFill>
                  <a:schemeClr val="dk1"/>
                </a:solidFill>
              </a:rPr>
              <a:t>recreational corridors</a:t>
            </a:r>
            <a:r>
              <a:rPr lang="en">
                <a:solidFill>
                  <a:schemeClr val="dk1"/>
                </a:solidFill>
              </a:rPr>
              <a:t> — like lakefronts, bike paths, parks, scenic routes all suggesting possible leisure or recreational use based on station location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Wilton Ave &amp; Belmont, Sheffield Ave &amp; Fullerton, Ravenswood Ave &amp; Lawrence , Paulina St &amp; Division St are </a:t>
            </a:r>
            <a:r>
              <a:rPr lang="en">
                <a:solidFill>
                  <a:schemeClr val="dk1"/>
                </a:solidFill>
              </a:rPr>
              <a:t>strong candidates for on-site membership conversion messaging."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f017f7b259_0_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f017f7b259_0_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83C40"/>
                </a:solidFill>
                <a:latin typeface="DM Sans Light"/>
                <a:ea typeface="DM Sans Light"/>
                <a:cs typeface="DM Sans Light"/>
                <a:sym typeface="DM Sans Light"/>
              </a:rPr>
              <a:t>Member and Casual Rider data suggest they favor warmer months.  Marketing should ramp up during summer months to capitalize on the surge of riders.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f017f7b259_0_7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f017f7b259_0_7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f017f7b259_0_7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f017f7b259_0_7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f017f7b259_0_8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3f017f7b259_0_8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f017f7b259_0_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3f017f7b259_0_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f017f7b259_0_8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3f017f7b259_0_8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f017f7b259_0_8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3f017f7b259_0_8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40" name="Google Shape;40;p6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46" name="Google Shape;46;p6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50" name="Google Shape;50;p7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2" name="Google Shape;62;p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6" name="Google Shape;66;p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1" name="Google Shape;71;p9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9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9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9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6" name="Google Shape;76;p9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7" name="Google Shape;77;p9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8" name="Google Shape;78;p9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7" name="Google Shape;87;p10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0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89" name="Google Shape;89;p10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0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1" name="Google Shape;91;p10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2" name="Google Shape;92;p10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3" name="Google Shape;93;p10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4" name="Google Shape;94;p10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5" name="Google Shape;95;p10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0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11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9" name="Google Shape;109;p11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11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1" name="Google Shape;111;p11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3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30" name="Google Shape;130;p13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3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13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13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3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4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43" name="Google Shape;143;p14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4" name="Google Shape;144;p14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45" name="Google Shape;145;p14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5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1" name="Google Shape;151;p15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16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59" name="Google Shape;159;p16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62" name="Google Shape;162;p16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1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17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17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3" name="Google Shape;173;p17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4" name="Google Shape;174;p17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9" name="Google Shape;179;p17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80" name="Google Shape;180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3" name="Google Shape;183;p1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18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18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187" name="Google Shape;187;p18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8" name="Google Shape;188;p18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9" name="Google Shape;189;p18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19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20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8" name="Google Shape;198;p20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99" name="Google Shape;199;p20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0" name="Google Shape;200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0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2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1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6" name="Google Shape;206;p21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8" name="Google Shape;208;p21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2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3" name="Google Shape;213;p22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14" name="Google Shape;214;p22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23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3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23" name="Google Shape;223;p24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2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4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7" name="Google Shape;227;p24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28" name="Google Shape;228;p24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29" name="Google Shape;229;p24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31" name="Google Shape;231;p25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25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7" name="Google Shape;237;p26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6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6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2" name="Google Shape;242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26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4" name="Google Shape;244;p26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26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26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7" name="Google Shape;247;p26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6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9" name="Google Shape;249;p26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2" name="Google Shape;252;p26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3" name="Google Shape;253;p26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57" name="Google Shape;257;p27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8" name="Google Shape;258;p27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7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60" name="Google Shape;260;p27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27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27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4" name="Google Shape;264;p27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5" name="Google Shape;265;p27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6" name="Google Shape;266;p27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7" name="Google Shape;267;p27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8" name="Google Shape;268;p27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2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28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5" name="Google Shape;275;p29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6" name="Google Shape;276;p29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7" name="Google Shape;277;p29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8" name="Google Shape;278;p29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29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29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81" name="Google Shape;281;p29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9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9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29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29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29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8" name="Google Shape;288;p29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9" name="Google Shape;289;p29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29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1" name="Google Shape;291;p29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2" name="Google Shape;292;p29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29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29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5" name="Google Shape;295;p29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6" name="Google Shape;296;p29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7" name="Google Shape;297;p29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8" name="Google Shape;298;p29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29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2" name="Google Shape;302;p30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3" name="Google Shape;303;p30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4" name="Google Shape;304;p30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p30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6" name="Google Shape;306;p30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7" name="Google Shape;307;p30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8" name="Google Shape;308;p30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0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0" name="Google Shape;310;p30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1" name="Google Shape;311;p30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2" name="Google Shape;312;p30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0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4" name="Google Shape;314;p30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5" name="Google Shape;315;p30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6" name="Google Shape;316;p30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7" name="Google Shape;317;p30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8" name="Google Shape;318;p30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9" name="Google Shape;319;p30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30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30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2" name="Google Shape;322;p30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3" name="Google Shape;323;p30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4" name="Google Shape;324;p30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30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6" name="Google Shape;326;p30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7" name="Google Shape;327;p30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8" name="Google Shape;328;p30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30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30" name="Google Shape;330;p30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1" name="Google Shape;331;p30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2" name="Google Shape;332;p30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30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4" name="Google Shape;334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5" name="Google Shape;335;p30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8" name="Google Shape;338;p31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9" name="Google Shape;339;p31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31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1" name="Google Shape;341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2" name="Google Shape;342;p31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43" name="Google Shape;343;p31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4" name="Google Shape;344;p31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45" name="Google Shape;345;p31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32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48" name="Google Shape;348;p32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32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32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32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32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32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32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32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32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7" name="Google Shape;357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3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32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3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2" name="Google Shape;362;p33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6" name="Google Shape;366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5" name="Google Shape;375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0" name="Google Shape;380;p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5" name="Google Shape;385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6" name="Google Shape;386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1" name="Google Shape;391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4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4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4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9" name="Google Shape;399;p4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0" name="Google Shape;400;p4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7" name="Google Shape;407;p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8" name="Google Shape;408;p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9" name="Google Shape;409;p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3" name="Google Shape;413;p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5" name="Google Shape;415;p4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6" name="Google Shape;416;p4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7" name="Google Shape;417;p4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8" name="Google Shape;418;p4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1" name="Google Shape;421;p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4" name="Google Shape;424;p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5" name="Google Shape;425;p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6" name="Google Shape;426;p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7" name="Google Shape;427;p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8" name="Google Shape;428;p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4" name="Google Shape;434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6" name="Google Shape;436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9" name="Google Shape;439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2" name="Google Shape;442;p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5" name="Google Shape;445;p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7" name="Google Shape;44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9" name="Google Shape;449;p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0" name="Google Shape;450;p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5" name="Google Shape;455;p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6" name="Google Shape;456;p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5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468" name="Google Shape;468;p55"/>
          <p:cNvPicPr preferRelativeResize="0"/>
          <p:nvPr/>
        </p:nvPicPr>
        <p:blipFill rotWithShape="1">
          <a:blip r:embed="rId3">
            <a:alphaModFix/>
          </a:blip>
          <a:srcRect b="80" l="21737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55"/>
          <p:cNvSpPr txBox="1"/>
          <p:nvPr>
            <p:ph type="title"/>
          </p:nvPr>
        </p:nvSpPr>
        <p:spPr>
          <a:xfrm>
            <a:off x="363825" y="1285950"/>
            <a:ext cx="38601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Annual Members &amp; Casual Riders </a:t>
            </a:r>
            <a:endParaRPr/>
          </a:p>
        </p:txBody>
      </p:sp>
      <p:sp>
        <p:nvSpPr>
          <p:cNvPr id="470" name="Google Shape;470;p55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Cyclistic Bike-Share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55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By: Ricky Ratliff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Last Updated: June 30th, 2026</a:t>
            </a:r>
            <a:endParaRPr/>
          </a:p>
        </p:txBody>
      </p:sp>
      <p:pic>
        <p:nvPicPr>
          <p:cNvPr descr="bike  cycle   transport (Provided by Getty Images)" id="472" name="Google Shape;472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0250" y="3157875"/>
            <a:ext cx="923551" cy="724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6"/>
          <p:cNvSpPr/>
          <p:nvPr/>
        </p:nvSpPr>
        <p:spPr>
          <a:xfrm>
            <a:off x="25" y="2154747"/>
            <a:ext cx="3048000" cy="137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8" name="Google Shape;478;p56"/>
          <p:cNvSpPr/>
          <p:nvPr/>
        </p:nvSpPr>
        <p:spPr>
          <a:xfrm>
            <a:off x="3034587" y="2154747"/>
            <a:ext cx="3048000" cy="137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9" name="Google Shape;479;p56"/>
          <p:cNvSpPr/>
          <p:nvPr/>
        </p:nvSpPr>
        <p:spPr>
          <a:xfrm>
            <a:off x="6082574" y="2154747"/>
            <a:ext cx="3048000" cy="137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0" name="Google Shape;480;p56"/>
          <p:cNvSpPr/>
          <p:nvPr/>
        </p:nvSpPr>
        <p:spPr>
          <a:xfrm>
            <a:off x="3034574" y="3525454"/>
            <a:ext cx="3048000" cy="137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1" name="Google Shape;481;p56"/>
          <p:cNvSpPr txBox="1"/>
          <p:nvPr>
            <p:ph idx="1" type="subTitle"/>
          </p:nvPr>
        </p:nvSpPr>
        <p:spPr>
          <a:xfrm>
            <a:off x="454650" y="26803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Purpose Statement ( What are we </a:t>
            </a:r>
            <a:r>
              <a:rPr lang="en"/>
              <a:t>discussing?)</a:t>
            </a:r>
            <a:endParaRPr/>
          </a:p>
        </p:txBody>
      </p:sp>
      <p:sp>
        <p:nvSpPr>
          <p:cNvPr id="482" name="Google Shape;482;p56"/>
          <p:cNvSpPr txBox="1"/>
          <p:nvPr>
            <p:ph idx="2" type="subTitle"/>
          </p:nvPr>
        </p:nvSpPr>
        <p:spPr>
          <a:xfrm>
            <a:off x="387575" y="24468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83" name="Google Shape;483;p5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4" name="Google Shape;484;p56"/>
          <p:cNvSpPr txBox="1"/>
          <p:nvPr>
            <p:ph type="title"/>
          </p:nvPr>
        </p:nvSpPr>
        <p:spPr>
          <a:xfrm>
            <a:off x="361975" y="962092"/>
            <a:ext cx="57186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 </a:t>
            </a:r>
            <a:r>
              <a:rPr lang="en"/>
              <a:t>O</a:t>
            </a:r>
            <a:r>
              <a:rPr lang="en"/>
              <a:t>verview</a:t>
            </a:r>
            <a:endParaRPr/>
          </a:p>
        </p:txBody>
      </p:sp>
      <p:sp>
        <p:nvSpPr>
          <p:cNvPr id="485" name="Google Shape;485;p56"/>
          <p:cNvSpPr txBox="1"/>
          <p:nvPr>
            <p:ph idx="4" type="subTitle"/>
          </p:nvPr>
        </p:nvSpPr>
        <p:spPr>
          <a:xfrm>
            <a:off x="3364200" y="274620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Story ( With Data)</a:t>
            </a:r>
            <a:endParaRPr/>
          </a:p>
        </p:txBody>
      </p:sp>
      <p:sp>
        <p:nvSpPr>
          <p:cNvPr id="486" name="Google Shape;486;p56"/>
          <p:cNvSpPr txBox="1"/>
          <p:nvPr>
            <p:ph idx="5" type="subTitle"/>
          </p:nvPr>
        </p:nvSpPr>
        <p:spPr>
          <a:xfrm>
            <a:off x="3364200" y="24468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487" name="Google Shape;487;p56"/>
          <p:cNvSpPr txBox="1"/>
          <p:nvPr>
            <p:ph idx="6" type="subTitle"/>
          </p:nvPr>
        </p:nvSpPr>
        <p:spPr>
          <a:xfrm>
            <a:off x="6411675" y="274620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56"/>
          <p:cNvSpPr txBox="1"/>
          <p:nvPr>
            <p:ph idx="7" type="subTitle"/>
          </p:nvPr>
        </p:nvSpPr>
        <p:spPr>
          <a:xfrm>
            <a:off x="6340825" y="24468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489" name="Google Shape;489;p56"/>
          <p:cNvSpPr txBox="1"/>
          <p:nvPr>
            <p:ph idx="15" type="subTitle"/>
          </p:nvPr>
        </p:nvSpPr>
        <p:spPr>
          <a:xfrm>
            <a:off x="3364200" y="411690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56"/>
          <p:cNvSpPr txBox="1"/>
          <p:nvPr>
            <p:ph idx="16" type="subTitle"/>
          </p:nvPr>
        </p:nvSpPr>
        <p:spPr>
          <a:xfrm>
            <a:off x="3397725" y="373542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6" name="Google Shape;496;p57"/>
          <p:cNvSpPr txBox="1"/>
          <p:nvPr>
            <p:ph type="title"/>
          </p:nvPr>
        </p:nvSpPr>
        <p:spPr>
          <a:xfrm>
            <a:off x="1493100" y="1405275"/>
            <a:ext cx="5948100" cy="1551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203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So, w</a:t>
            </a:r>
            <a:r>
              <a:rPr lang="en" sz="4100"/>
              <a:t>hat are we </a:t>
            </a:r>
            <a:r>
              <a:rPr lang="en" sz="4100"/>
              <a:t>discussing</a:t>
            </a:r>
            <a:r>
              <a:rPr lang="en" sz="4100"/>
              <a:t> </a:t>
            </a:r>
            <a:r>
              <a:rPr lang="en"/>
              <a:t>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2" name="Google Shape;502;p58"/>
          <p:cNvSpPr txBox="1"/>
          <p:nvPr>
            <p:ph idx="1" type="subTitle"/>
          </p:nvPr>
        </p:nvSpPr>
        <p:spPr>
          <a:xfrm>
            <a:off x="181425" y="828500"/>
            <a:ext cx="975000" cy="54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Objective</a:t>
            </a:r>
            <a:r>
              <a:rPr lang="en"/>
              <a:t> </a:t>
            </a:r>
            <a:endParaRPr/>
          </a:p>
        </p:txBody>
      </p:sp>
      <p:sp>
        <p:nvSpPr>
          <p:cNvPr id="503" name="Google Shape;503;p58"/>
          <p:cNvSpPr txBox="1"/>
          <p:nvPr>
            <p:ph type="title"/>
          </p:nvPr>
        </p:nvSpPr>
        <p:spPr>
          <a:xfrm>
            <a:off x="1253600" y="132598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Identify behavioral differences between </a:t>
            </a:r>
            <a:r>
              <a:rPr lang="en">
                <a:solidFill>
                  <a:srgbClr val="FFD966"/>
                </a:solidFill>
              </a:rPr>
              <a:t>annual members</a:t>
            </a:r>
            <a:r>
              <a:rPr lang="en"/>
              <a:t> and </a:t>
            </a:r>
            <a:r>
              <a:rPr lang="en">
                <a:solidFill>
                  <a:srgbClr val="3C78D8"/>
                </a:solidFill>
              </a:rPr>
              <a:t>casual riders</a:t>
            </a:r>
            <a:r>
              <a:rPr lang="en"/>
              <a:t> to support a marketing </a:t>
            </a:r>
            <a:r>
              <a:rPr lang="en"/>
              <a:t>campaign</a:t>
            </a:r>
            <a:r>
              <a:rPr lang="en"/>
              <a:t> </a:t>
            </a:r>
            <a:r>
              <a:rPr lang="en"/>
              <a:t>aimed</a:t>
            </a:r>
            <a:r>
              <a:rPr lang="en"/>
              <a:t> at converting casual riders into members.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9" name="Google Shape;509;p59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203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Data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6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5" name="Google Shape;515;p60"/>
          <p:cNvSpPr txBox="1"/>
          <p:nvPr>
            <p:ph idx="1" type="subTitle"/>
          </p:nvPr>
        </p:nvSpPr>
        <p:spPr>
          <a:xfrm>
            <a:off x="986859" y="1517359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Total Riders:</a:t>
            </a:r>
            <a:endParaRPr/>
          </a:p>
        </p:txBody>
      </p:sp>
      <p:sp>
        <p:nvSpPr>
          <p:cNvPr id="516" name="Google Shape;516;p60"/>
          <p:cNvSpPr txBox="1"/>
          <p:nvPr>
            <p:ph idx="2" type="body"/>
          </p:nvPr>
        </p:nvSpPr>
        <p:spPr>
          <a:xfrm>
            <a:off x="986859" y="1740857"/>
            <a:ext cx="3213000" cy="46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Total: 387.79K Riders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Annual Members: 71.3% (276.49K)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Casual Riders: 28.7% (111.3K)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7" name="Google Shape;517;p60"/>
          <p:cNvSpPr txBox="1"/>
          <p:nvPr>
            <p:ph type="title"/>
          </p:nvPr>
        </p:nvSpPr>
        <p:spPr>
          <a:xfrm>
            <a:off x="605935" y="346450"/>
            <a:ext cx="4297200" cy="10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Comparison: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Annual Members vs. Casual Riders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60"/>
          <p:cNvSpPr txBox="1"/>
          <p:nvPr>
            <p:ph idx="7" type="subTitle"/>
          </p:nvPr>
        </p:nvSpPr>
        <p:spPr>
          <a:xfrm>
            <a:off x="1003959" y="3427547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Takeaway: </a:t>
            </a:r>
            <a:endParaRPr/>
          </a:p>
        </p:txBody>
      </p:sp>
      <p:sp>
        <p:nvSpPr>
          <p:cNvPr id="519" name="Google Shape;519;p60"/>
          <p:cNvSpPr txBox="1"/>
          <p:nvPr>
            <p:ph idx="8" type="body"/>
          </p:nvPr>
        </p:nvSpPr>
        <p:spPr>
          <a:xfrm>
            <a:off x="864860" y="3613366"/>
            <a:ext cx="3213000" cy="46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Casual riders </a:t>
            </a:r>
            <a:r>
              <a:rPr lang="en"/>
              <a:t>consistently</a:t>
            </a:r>
            <a:r>
              <a:rPr lang="en"/>
              <a:t> take longer trips.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The box plot for casual riders is wider, meaning </a:t>
            </a:r>
            <a:r>
              <a:rPr lang="en"/>
              <a:t>casual</a:t>
            </a:r>
            <a:r>
              <a:rPr lang="en"/>
              <a:t> riders have more variability in how long they ride.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60"/>
          <p:cNvSpPr txBox="1"/>
          <p:nvPr>
            <p:ph idx="9" type="subTitle"/>
          </p:nvPr>
        </p:nvSpPr>
        <p:spPr>
          <a:xfrm>
            <a:off x="2010169" y="2614361"/>
            <a:ext cx="1200600" cy="16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Mean:	     Median: </a:t>
            </a:r>
            <a:endParaRPr/>
          </a:p>
        </p:txBody>
      </p:sp>
      <p:sp>
        <p:nvSpPr>
          <p:cNvPr id="521" name="Google Shape;521;p60"/>
          <p:cNvSpPr txBox="1"/>
          <p:nvPr>
            <p:ph idx="13" type="body"/>
          </p:nvPr>
        </p:nvSpPr>
        <p:spPr>
          <a:xfrm>
            <a:off x="912450" y="2815532"/>
            <a:ext cx="1255200" cy="16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r>
              <a:rPr lang="en"/>
              <a:t>Annual Members: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</a:t>
            </a:r>
            <a:endParaRPr/>
          </a:p>
        </p:txBody>
      </p:sp>
      <p:cxnSp>
        <p:nvCxnSpPr>
          <p:cNvPr id="522" name="Google Shape;522;p60"/>
          <p:cNvCxnSpPr/>
          <p:nvPr/>
        </p:nvCxnSpPr>
        <p:spPr>
          <a:xfrm flipH="1">
            <a:off x="663510" y="1659820"/>
            <a:ext cx="12300" cy="3122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3" name="Google Shape;523;p60"/>
          <p:cNvSpPr/>
          <p:nvPr/>
        </p:nvSpPr>
        <p:spPr>
          <a:xfrm rot="2707147">
            <a:off x="627057" y="1569901"/>
            <a:ext cx="102036" cy="10203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60"/>
          <p:cNvSpPr/>
          <p:nvPr/>
        </p:nvSpPr>
        <p:spPr>
          <a:xfrm rot="2707147">
            <a:off x="624782" y="2603545"/>
            <a:ext cx="102036" cy="10203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60"/>
          <p:cNvSpPr/>
          <p:nvPr/>
        </p:nvSpPr>
        <p:spPr>
          <a:xfrm rot="2707147">
            <a:off x="618632" y="3445832"/>
            <a:ext cx="102036" cy="10203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60"/>
          <p:cNvSpPr txBox="1"/>
          <p:nvPr/>
        </p:nvSpPr>
        <p:spPr>
          <a:xfrm>
            <a:off x="1970325" y="2742300"/>
            <a:ext cx="14343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8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13.21 min	    8.22 min</a:t>
            </a:r>
            <a:endParaRPr sz="8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8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8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18.18 min	    9.28 min</a:t>
            </a:r>
            <a:endParaRPr sz="8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7" name="Google Shape;527;p60"/>
          <p:cNvSpPr/>
          <p:nvPr/>
        </p:nvSpPr>
        <p:spPr>
          <a:xfrm rot="2707147">
            <a:off x="618632" y="4472707"/>
            <a:ext cx="102036" cy="10203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60"/>
          <p:cNvSpPr txBox="1"/>
          <p:nvPr/>
        </p:nvSpPr>
        <p:spPr>
          <a:xfrm>
            <a:off x="986850" y="4350950"/>
            <a:ext cx="281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So What?</a:t>
            </a:r>
            <a:endParaRPr sz="13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9" name="Google Shape;529;p60"/>
          <p:cNvSpPr txBox="1"/>
          <p:nvPr/>
        </p:nvSpPr>
        <p:spPr>
          <a:xfrm>
            <a:off x="1117375" y="4595875"/>
            <a:ext cx="281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This can help shape our marketing message.</a:t>
            </a:r>
            <a:endParaRPr sz="1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30" name="Google Shape;530;p60" title="Screenshot 2026-07-01 1700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5409" y="46474"/>
            <a:ext cx="2839935" cy="24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60"/>
          <p:cNvSpPr txBox="1"/>
          <p:nvPr/>
        </p:nvSpPr>
        <p:spPr>
          <a:xfrm>
            <a:off x="1003950" y="3016700"/>
            <a:ext cx="82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2" name="Google Shape;532;p60"/>
          <p:cNvSpPr txBox="1"/>
          <p:nvPr/>
        </p:nvSpPr>
        <p:spPr>
          <a:xfrm>
            <a:off x="912450" y="2956550"/>
            <a:ext cx="100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Casual Riders:</a:t>
            </a:r>
            <a:endParaRPr sz="1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3" name="Google Shape;533;p60"/>
          <p:cNvSpPr txBox="1"/>
          <p:nvPr/>
        </p:nvSpPr>
        <p:spPr>
          <a:xfrm>
            <a:off x="796500" y="2485538"/>
            <a:ext cx="162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Duration</a:t>
            </a:r>
            <a:endParaRPr b="1" sz="1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34" name="Google Shape;534;p60" title="Screenshot 2026-07-01 17070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5400" y="2485550"/>
            <a:ext cx="2839951" cy="265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0" name="Google Shape;540;p61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Rider </a:t>
            </a:r>
            <a:r>
              <a:rPr lang="en"/>
              <a:t>Preference:</a:t>
            </a:r>
            <a:r>
              <a:rPr lang="en"/>
              <a:t> </a:t>
            </a:r>
            <a:endParaRPr/>
          </a:p>
        </p:txBody>
      </p:sp>
      <p:sp>
        <p:nvSpPr>
          <p:cNvPr id="541" name="Google Shape;541;p61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Annual Members:  69.1% </a:t>
            </a:r>
            <a:r>
              <a:rPr lang="en"/>
              <a:t>prefer</a:t>
            </a:r>
            <a:r>
              <a:rPr lang="en"/>
              <a:t> Electric Bikes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Casual Riders:  76.5% </a:t>
            </a:r>
            <a:r>
              <a:rPr lang="en"/>
              <a:t>prefer</a:t>
            </a:r>
            <a:r>
              <a:rPr lang="en"/>
              <a:t> Electric Bikes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61"/>
          <p:cNvSpPr txBox="1"/>
          <p:nvPr>
            <p:ph type="title"/>
          </p:nvPr>
        </p:nvSpPr>
        <p:spPr>
          <a:xfrm>
            <a:off x="361975" y="988550"/>
            <a:ext cx="4297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Bike</a:t>
            </a:r>
            <a:r>
              <a:rPr lang="en"/>
              <a:t> Types </a:t>
            </a:r>
            <a:endParaRPr/>
          </a:p>
        </p:txBody>
      </p:sp>
      <p:sp>
        <p:nvSpPr>
          <p:cNvPr id="543" name="Google Shape;543;p61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what?</a:t>
            </a:r>
            <a:endParaRPr/>
          </a:p>
        </p:txBody>
      </p:sp>
      <p:sp>
        <p:nvSpPr>
          <p:cNvPr id="544" name="Google Shape;544;p61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may </a:t>
            </a:r>
            <a:r>
              <a:rPr lang="en"/>
              <a:t>beneficial</a:t>
            </a:r>
            <a:r>
              <a:rPr lang="en"/>
              <a:t> to p</a:t>
            </a:r>
            <a:r>
              <a:rPr lang="en"/>
              <a:t>romote electric bike access/pricing in membership messaging.</a:t>
            </a:r>
            <a:endParaRPr/>
          </a:p>
        </p:txBody>
      </p:sp>
      <p:sp>
        <p:nvSpPr>
          <p:cNvPr id="545" name="Google Shape;545;p61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Takeaway:</a:t>
            </a:r>
            <a:endParaRPr/>
          </a:p>
        </p:txBody>
      </p:sp>
      <p:sp>
        <p:nvSpPr>
          <p:cNvPr id="546" name="Google Shape;546;p61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Both groups favor electric bikes but </a:t>
            </a:r>
            <a:r>
              <a:rPr lang="en"/>
              <a:t>members</a:t>
            </a:r>
            <a:r>
              <a:rPr lang="en"/>
              <a:t> are the the majority.</a:t>
            </a:r>
            <a:endParaRPr/>
          </a:p>
        </p:txBody>
      </p:sp>
      <p:cxnSp>
        <p:nvCxnSpPr>
          <p:cNvPr id="547" name="Google Shape;547;p61"/>
          <p:cNvCxnSpPr/>
          <p:nvPr/>
        </p:nvCxnSpPr>
        <p:spPr>
          <a:xfrm>
            <a:off x="431850" y="2300900"/>
            <a:ext cx="0" cy="225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8" name="Google Shape;548;p61"/>
          <p:cNvSpPr/>
          <p:nvPr/>
        </p:nvSpPr>
        <p:spPr>
          <a:xfrm rot="2707147">
            <a:off x="383097" y="2211068"/>
            <a:ext cx="102036" cy="10203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61"/>
          <p:cNvSpPr/>
          <p:nvPr/>
        </p:nvSpPr>
        <p:spPr>
          <a:xfrm rot="2707147">
            <a:off x="383097" y="3085984"/>
            <a:ext cx="102036" cy="10203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61"/>
          <p:cNvSpPr/>
          <p:nvPr/>
        </p:nvSpPr>
        <p:spPr>
          <a:xfrm rot="2707147">
            <a:off x="383097" y="3960918"/>
            <a:ext cx="102036" cy="10203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1" name="Google Shape;551;p61" title="Screenshot 2026-07-01 1657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0450" y="128925"/>
            <a:ext cx="2440250" cy="151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61" title="Screenshot 2026-07-01 16362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2075" y="99850"/>
            <a:ext cx="2472725" cy="151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61" title="Screenshot 2026-07-01 17003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93100" y="1676888"/>
            <a:ext cx="3761970" cy="3228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62"/>
          <p:cNvSpPr txBox="1"/>
          <p:nvPr>
            <p:ph idx="12" type="sldNum"/>
          </p:nvPr>
        </p:nvSpPr>
        <p:spPr>
          <a:xfrm>
            <a:off x="8350025" y="223550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9" name="Google Shape;559;p62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10 Stations </a:t>
            </a:r>
            <a:endParaRPr/>
          </a:p>
        </p:txBody>
      </p:sp>
      <p:sp>
        <p:nvSpPr>
          <p:cNvPr id="560" name="Google Shape;560;p62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annual members list and the casual riders list differ.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62"/>
          <p:cNvSpPr txBox="1"/>
          <p:nvPr>
            <p:ph type="title"/>
          </p:nvPr>
        </p:nvSpPr>
        <p:spPr>
          <a:xfrm>
            <a:off x="361975" y="988550"/>
            <a:ext cx="4297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Station Popularity </a:t>
            </a:r>
            <a:endParaRPr/>
          </a:p>
        </p:txBody>
      </p:sp>
      <p:sp>
        <p:nvSpPr>
          <p:cNvPr id="562" name="Google Shape;562;p62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what?</a:t>
            </a:r>
            <a:endParaRPr/>
          </a:p>
        </p:txBody>
      </p:sp>
      <p:sp>
        <p:nvSpPr>
          <p:cNvPr id="563" name="Google Shape;563;p62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we use the overlap in popularity as an indicator, then we can determine which stations to target.</a:t>
            </a:r>
            <a:endParaRPr/>
          </a:p>
        </p:txBody>
      </p:sp>
      <p:sp>
        <p:nvSpPr>
          <p:cNvPr id="564" name="Google Shape;564;p62"/>
          <p:cNvSpPr txBox="1"/>
          <p:nvPr>
            <p:ph idx="9" type="subTitle"/>
          </p:nvPr>
        </p:nvSpPr>
        <p:spPr>
          <a:xfrm>
            <a:off x="742900" y="3105303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Interesting Trends  </a:t>
            </a:r>
            <a:endParaRPr/>
          </a:p>
        </p:txBody>
      </p:sp>
      <p:sp>
        <p:nvSpPr>
          <p:cNvPr id="565" name="Google Shape;565;p62"/>
          <p:cNvSpPr txBox="1"/>
          <p:nvPr>
            <p:ph idx="13" type="body"/>
          </p:nvPr>
        </p:nvSpPr>
        <p:spPr>
          <a:xfrm>
            <a:off x="742900" y="3335328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here are stations that appear on both lists.</a:t>
            </a:r>
            <a:endParaRPr/>
          </a:p>
        </p:txBody>
      </p:sp>
      <p:cxnSp>
        <p:nvCxnSpPr>
          <p:cNvPr id="566" name="Google Shape;566;p62"/>
          <p:cNvCxnSpPr/>
          <p:nvPr/>
        </p:nvCxnSpPr>
        <p:spPr>
          <a:xfrm>
            <a:off x="431850" y="2300900"/>
            <a:ext cx="0" cy="225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7" name="Google Shape;567;p62"/>
          <p:cNvSpPr/>
          <p:nvPr/>
        </p:nvSpPr>
        <p:spPr>
          <a:xfrm rot="2707147">
            <a:off x="383097" y="2211068"/>
            <a:ext cx="102036" cy="10203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62"/>
          <p:cNvSpPr/>
          <p:nvPr/>
        </p:nvSpPr>
        <p:spPr>
          <a:xfrm rot="2707147">
            <a:off x="383097" y="3085984"/>
            <a:ext cx="102036" cy="10203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62"/>
          <p:cNvSpPr/>
          <p:nvPr/>
        </p:nvSpPr>
        <p:spPr>
          <a:xfrm rot="2707147">
            <a:off x="383097" y="3960918"/>
            <a:ext cx="102036" cy="10203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0" name="Google Shape;570;p62" title="Screenshot 2026-07-01 1709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2825" y="0"/>
            <a:ext cx="4502251" cy="25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62" title="Screenshot 2026-07-01 17103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2825" y="2545600"/>
            <a:ext cx="4502249" cy="2574649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62"/>
          <p:cNvSpPr/>
          <p:nvPr/>
        </p:nvSpPr>
        <p:spPr>
          <a:xfrm>
            <a:off x="3800975" y="3128450"/>
            <a:ext cx="598500" cy="110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3" name="Google Shape;573;p62"/>
          <p:cNvSpPr/>
          <p:nvPr/>
        </p:nvSpPr>
        <p:spPr>
          <a:xfrm>
            <a:off x="3876525" y="2955213"/>
            <a:ext cx="598500" cy="110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4" name="Google Shape;574;p62"/>
          <p:cNvSpPr/>
          <p:nvPr/>
        </p:nvSpPr>
        <p:spPr>
          <a:xfrm>
            <a:off x="3800975" y="3475250"/>
            <a:ext cx="598500" cy="110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5" name="Google Shape;575;p62"/>
          <p:cNvSpPr/>
          <p:nvPr/>
        </p:nvSpPr>
        <p:spPr>
          <a:xfrm>
            <a:off x="3876525" y="3646125"/>
            <a:ext cx="598500" cy="110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6" name="Google Shape;576;p62"/>
          <p:cNvSpPr/>
          <p:nvPr/>
        </p:nvSpPr>
        <p:spPr>
          <a:xfrm>
            <a:off x="3842925" y="3817000"/>
            <a:ext cx="598500" cy="110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7" name="Google Shape;577;p62"/>
          <p:cNvSpPr/>
          <p:nvPr/>
        </p:nvSpPr>
        <p:spPr>
          <a:xfrm>
            <a:off x="3679575" y="4000175"/>
            <a:ext cx="598500" cy="110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8" name="Google Shape;578;p62"/>
          <p:cNvSpPr/>
          <p:nvPr/>
        </p:nvSpPr>
        <p:spPr>
          <a:xfrm>
            <a:off x="4278075" y="563750"/>
            <a:ext cx="196800" cy="1794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9" name="Google Shape;579;p62"/>
          <p:cNvSpPr/>
          <p:nvPr/>
        </p:nvSpPr>
        <p:spPr>
          <a:xfrm>
            <a:off x="4202675" y="1297350"/>
            <a:ext cx="196800" cy="1794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0" name="Google Shape;580;p62"/>
          <p:cNvSpPr/>
          <p:nvPr/>
        </p:nvSpPr>
        <p:spPr>
          <a:xfrm>
            <a:off x="4077375" y="369300"/>
            <a:ext cx="196800" cy="1794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1" name="Google Shape;581;p62"/>
          <p:cNvSpPr/>
          <p:nvPr/>
        </p:nvSpPr>
        <p:spPr>
          <a:xfrm>
            <a:off x="4375200" y="930550"/>
            <a:ext cx="196800" cy="1794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6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7" name="Google Shape;587;p63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January</a:t>
            </a:r>
            <a:endParaRPr/>
          </a:p>
        </p:txBody>
      </p:sp>
      <p:sp>
        <p:nvSpPr>
          <p:cNvPr id="588" name="Google Shape;588;p63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Rides peak midweek for members suggesting classic commuter pattern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Casual rides stay consistently low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63"/>
          <p:cNvSpPr txBox="1"/>
          <p:nvPr>
            <p:ph type="title"/>
          </p:nvPr>
        </p:nvSpPr>
        <p:spPr>
          <a:xfrm>
            <a:off x="361975" y="988550"/>
            <a:ext cx="4297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Seasonal </a:t>
            </a:r>
            <a:r>
              <a:rPr lang="en"/>
              <a:t>Comparison</a:t>
            </a:r>
            <a:r>
              <a:rPr lang="en"/>
              <a:t>  </a:t>
            </a:r>
            <a:endParaRPr/>
          </a:p>
        </p:txBody>
      </p:sp>
      <p:sp>
        <p:nvSpPr>
          <p:cNvPr id="590" name="Google Shape;590;p63"/>
          <p:cNvSpPr txBox="1"/>
          <p:nvPr>
            <p:ph idx="7" type="subTitle"/>
          </p:nvPr>
        </p:nvSpPr>
        <p:spPr>
          <a:xfrm>
            <a:off x="723300" y="4295722"/>
            <a:ext cx="3213000" cy="23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What?</a:t>
            </a:r>
            <a:endParaRPr/>
          </a:p>
        </p:txBody>
      </p:sp>
      <p:sp>
        <p:nvSpPr>
          <p:cNvPr id="591" name="Google Shape;591;p63"/>
          <p:cNvSpPr txBox="1"/>
          <p:nvPr>
            <p:ph idx="8" type="body"/>
          </p:nvPr>
        </p:nvSpPr>
        <p:spPr>
          <a:xfrm>
            <a:off x="723300" y="4486749"/>
            <a:ext cx="3213000" cy="52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Winter may not be the best time for converting casual members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Summer is the better option for marketing </a:t>
            </a:r>
            <a:r>
              <a:rPr lang="en"/>
              <a:t>opportunities</a:t>
            </a:r>
            <a:r>
              <a:rPr lang="en"/>
              <a:t>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63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May </a:t>
            </a:r>
            <a:endParaRPr/>
          </a:p>
        </p:txBody>
      </p:sp>
      <p:sp>
        <p:nvSpPr>
          <p:cNvPr id="593" name="Google Shape;593;p63"/>
          <p:cNvSpPr txBox="1"/>
          <p:nvPr>
            <p:ph idx="13" type="body"/>
          </p:nvPr>
        </p:nvSpPr>
        <p:spPr>
          <a:xfrm>
            <a:off x="742900" y="3291553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Rides increase across the board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Members rides remain high during the week but also increase </a:t>
            </a:r>
            <a:r>
              <a:rPr lang="en"/>
              <a:t>greatly</a:t>
            </a:r>
            <a:r>
              <a:rPr lang="en"/>
              <a:t> over the weekend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Causal Riders </a:t>
            </a:r>
            <a:r>
              <a:rPr lang="en"/>
              <a:t>greatly increase weekend rides</a:t>
            </a:r>
            <a:endParaRPr/>
          </a:p>
        </p:txBody>
      </p:sp>
      <p:cxnSp>
        <p:nvCxnSpPr>
          <p:cNvPr id="594" name="Google Shape;594;p63"/>
          <p:cNvCxnSpPr/>
          <p:nvPr/>
        </p:nvCxnSpPr>
        <p:spPr>
          <a:xfrm>
            <a:off x="431850" y="2300900"/>
            <a:ext cx="0" cy="225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5" name="Google Shape;595;p63"/>
          <p:cNvSpPr/>
          <p:nvPr/>
        </p:nvSpPr>
        <p:spPr>
          <a:xfrm rot="2707147">
            <a:off x="383097" y="2211068"/>
            <a:ext cx="102036" cy="10203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63"/>
          <p:cNvSpPr/>
          <p:nvPr/>
        </p:nvSpPr>
        <p:spPr>
          <a:xfrm rot="2707147">
            <a:off x="383097" y="3085984"/>
            <a:ext cx="102036" cy="10203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63"/>
          <p:cNvSpPr/>
          <p:nvPr/>
        </p:nvSpPr>
        <p:spPr>
          <a:xfrm rot="2707147">
            <a:off x="383097" y="4314018"/>
            <a:ext cx="102036" cy="10203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8" name="Google Shape;598;p63" title="Screenshot 2026-07-01 1952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1183" y="81375"/>
            <a:ext cx="3875438" cy="238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63" title="Screenshot 2026-07-01 19524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1175" y="2545900"/>
            <a:ext cx="3875449" cy="237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6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5" name="Google Shape;605;p64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203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5"/>
          <p:cNvSpPr/>
          <p:nvPr/>
        </p:nvSpPr>
        <p:spPr>
          <a:xfrm>
            <a:off x="25" y="2439675"/>
            <a:ext cx="9144000" cy="2236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1" name="Google Shape;611;p6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2" name="Google Shape;612;p65"/>
          <p:cNvSpPr txBox="1"/>
          <p:nvPr>
            <p:ph idx="2" type="body"/>
          </p:nvPr>
        </p:nvSpPr>
        <p:spPr>
          <a:xfrm>
            <a:off x="271023" y="2830375"/>
            <a:ext cx="1858200" cy="147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Since</a:t>
            </a:r>
            <a:r>
              <a:rPr lang="en" sz="900"/>
              <a:t> casual rider tend to use Cyclistic for leisure and annual members lean more towards commuting, </a:t>
            </a:r>
            <a:r>
              <a:rPr b="1" lang="en" sz="900">
                <a:latin typeface="DM Sans"/>
                <a:ea typeface="DM Sans"/>
                <a:cs typeface="DM Sans"/>
                <a:sym typeface="DM Sans"/>
              </a:rPr>
              <a:t>messaging that emphasizes convenience and cost-savings for frequent, predictable trips could be the hook that converts casual riders into members.</a:t>
            </a:r>
            <a:r>
              <a:rPr b="1" lang="en" sz="1100"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11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65"/>
          <p:cNvSpPr txBox="1"/>
          <p:nvPr>
            <p:ph idx="3" type="subTitle"/>
          </p:nvPr>
        </p:nvSpPr>
        <p:spPr>
          <a:xfrm>
            <a:off x="226650" y="2463825"/>
            <a:ext cx="19470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Actionable Insight 1</a:t>
            </a:r>
            <a:endParaRPr/>
          </a:p>
        </p:txBody>
      </p:sp>
      <p:sp>
        <p:nvSpPr>
          <p:cNvPr id="614" name="Google Shape;614;p65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615" name="Google Shape;615;p65"/>
          <p:cNvSpPr txBox="1"/>
          <p:nvPr>
            <p:ph idx="6" type="body"/>
          </p:nvPr>
        </p:nvSpPr>
        <p:spPr>
          <a:xfrm>
            <a:off x="2488806" y="2830375"/>
            <a:ext cx="1858200" cy="12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Electric bikes are the </a:t>
            </a:r>
            <a:r>
              <a:rPr lang="en" sz="900"/>
              <a:t>preferred</a:t>
            </a:r>
            <a:r>
              <a:rPr lang="en" sz="900"/>
              <a:t> bike type suggesting that </a:t>
            </a:r>
            <a:r>
              <a:rPr b="1" lang="en" sz="900">
                <a:latin typeface="DM Sans"/>
                <a:ea typeface="DM Sans"/>
                <a:cs typeface="DM Sans"/>
                <a:sym typeface="DM Sans"/>
              </a:rPr>
              <a:t>marketing should highlight electric bike availability as a member perk, not just a casual draw.</a:t>
            </a:r>
            <a:endParaRPr b="1" sz="9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65"/>
          <p:cNvSpPr txBox="1"/>
          <p:nvPr>
            <p:ph idx="7" type="body"/>
          </p:nvPr>
        </p:nvSpPr>
        <p:spPr>
          <a:xfrm>
            <a:off x="4650134" y="2807025"/>
            <a:ext cx="1858200" cy="11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Based on shared popularity by both rider types </a:t>
            </a:r>
            <a:r>
              <a:rPr b="1" lang="en" sz="900">
                <a:latin typeface="DM Sans"/>
                <a:ea typeface="DM Sans"/>
                <a:cs typeface="DM Sans"/>
                <a:sym typeface="DM Sans"/>
              </a:rPr>
              <a:t>Wilton Ave &amp; Belmont, Sheffield Ave &amp; Fullerton, Ravenswood Ave &amp; Lawrence , Paulina St &amp; Division St are strong candidates for on-site membership conversion messaging.</a:t>
            </a:r>
            <a:endParaRPr b="1" sz="9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7" name="Google Shape;617;p65"/>
          <p:cNvSpPr txBox="1"/>
          <p:nvPr>
            <p:ph idx="8" type="body"/>
          </p:nvPr>
        </p:nvSpPr>
        <p:spPr>
          <a:xfrm>
            <a:off x="6924371" y="2807025"/>
            <a:ext cx="1858200" cy="150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Based on rising demand </a:t>
            </a:r>
            <a:r>
              <a:rPr b="1" lang="en" sz="900">
                <a:latin typeface="DM Sans"/>
                <a:ea typeface="DM Sans"/>
                <a:cs typeface="DM Sans"/>
                <a:sym typeface="DM Sans"/>
              </a:rPr>
              <a:t>during warmer season, m</a:t>
            </a:r>
            <a:r>
              <a:rPr b="1" lang="en" sz="900">
                <a:latin typeface="DM Sans"/>
                <a:ea typeface="DM Sans"/>
                <a:cs typeface="DM Sans"/>
                <a:sym typeface="DM Sans"/>
              </a:rPr>
              <a:t>arketing should ramp up during summer months to capitalize on the surge of riders.</a:t>
            </a:r>
            <a:endParaRPr b="1" sz="9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8" name="Google Shape;618;p65"/>
          <p:cNvSpPr txBox="1"/>
          <p:nvPr>
            <p:ph idx="14" type="subTitle"/>
          </p:nvPr>
        </p:nvSpPr>
        <p:spPr>
          <a:xfrm>
            <a:off x="6940500" y="2463825"/>
            <a:ext cx="2004000" cy="30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Actionable Insight</a:t>
            </a:r>
            <a:r>
              <a:rPr lang="en"/>
              <a:t> 4</a:t>
            </a:r>
            <a:endParaRPr/>
          </a:p>
        </p:txBody>
      </p:sp>
      <p:sp>
        <p:nvSpPr>
          <p:cNvPr id="619" name="Google Shape;619;p65"/>
          <p:cNvSpPr txBox="1"/>
          <p:nvPr>
            <p:ph idx="9" type="subTitle"/>
          </p:nvPr>
        </p:nvSpPr>
        <p:spPr>
          <a:xfrm>
            <a:off x="2488806" y="2463825"/>
            <a:ext cx="20040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Actionable Insight</a:t>
            </a:r>
            <a:r>
              <a:rPr lang="en"/>
              <a:t> 2</a:t>
            </a:r>
            <a:endParaRPr/>
          </a:p>
        </p:txBody>
      </p:sp>
      <p:sp>
        <p:nvSpPr>
          <p:cNvPr id="620" name="Google Shape;620;p65"/>
          <p:cNvSpPr txBox="1"/>
          <p:nvPr>
            <p:ph idx="13" type="subTitle"/>
          </p:nvPr>
        </p:nvSpPr>
        <p:spPr>
          <a:xfrm>
            <a:off x="4650134" y="2463825"/>
            <a:ext cx="1947000" cy="27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Actionable Insight</a:t>
            </a:r>
            <a:r>
              <a:rPr lang="en"/>
              <a:t> 3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6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6" name="Google Shape;626;p66"/>
          <p:cNvSpPr txBox="1"/>
          <p:nvPr>
            <p:ph type="title"/>
          </p:nvPr>
        </p:nvSpPr>
        <p:spPr>
          <a:xfrm>
            <a:off x="696150" y="279500"/>
            <a:ext cx="77052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203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 </a:t>
            </a:r>
            <a:endParaRPr/>
          </a:p>
        </p:txBody>
      </p:sp>
      <p:pic>
        <p:nvPicPr>
          <p:cNvPr id="627" name="Google Shape;627;p66" title="Screenshot 2026-07-01 2027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750" y="870650"/>
            <a:ext cx="3472174" cy="419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66" title="Screenshot 2026-07-01 20252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2823" y="897450"/>
            <a:ext cx="3428551" cy="4143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6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4" name="Google Shape;634;p67"/>
          <p:cNvSpPr txBox="1"/>
          <p:nvPr>
            <p:ph type="title"/>
          </p:nvPr>
        </p:nvSpPr>
        <p:spPr>
          <a:xfrm>
            <a:off x="696150" y="279500"/>
            <a:ext cx="77052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203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 (Continued) </a:t>
            </a:r>
            <a:endParaRPr/>
          </a:p>
        </p:txBody>
      </p:sp>
      <p:pic>
        <p:nvPicPr>
          <p:cNvPr id="635" name="Google Shape;635;p67" title="Screenshot 2026-07-01 2030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950" y="773000"/>
            <a:ext cx="3203200" cy="4294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67" title="Screenshot 2026-07-01 2020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0550" y="847400"/>
            <a:ext cx="4469051" cy="4143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6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2" name="Google Shape;642;p68"/>
          <p:cNvSpPr txBox="1"/>
          <p:nvPr>
            <p:ph type="title"/>
          </p:nvPr>
        </p:nvSpPr>
        <p:spPr>
          <a:xfrm>
            <a:off x="696150" y="279500"/>
            <a:ext cx="77052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203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 (Continued) </a:t>
            </a:r>
            <a:endParaRPr/>
          </a:p>
        </p:txBody>
      </p:sp>
      <p:pic>
        <p:nvPicPr>
          <p:cNvPr id="643" name="Google Shape;643;p68" title="Screenshot 2026-07-01 2023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100" y="807825"/>
            <a:ext cx="3429974" cy="4258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68" title="Screenshot 2026-07-01 20335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9175" y="755550"/>
            <a:ext cx="3072901" cy="4258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6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0" name="Google Shape;650;p69"/>
          <p:cNvSpPr txBox="1"/>
          <p:nvPr>
            <p:ph type="title"/>
          </p:nvPr>
        </p:nvSpPr>
        <p:spPr>
          <a:xfrm>
            <a:off x="696150" y="279500"/>
            <a:ext cx="77052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203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 (Continued) </a:t>
            </a:r>
            <a:endParaRPr/>
          </a:p>
        </p:txBody>
      </p:sp>
      <p:pic>
        <p:nvPicPr>
          <p:cNvPr id="651" name="Google Shape;651;p69" title="Screenshot 2026-07-01 2034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2725" y="783475"/>
            <a:ext cx="3358525" cy="4185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